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B4608A-25AB-39B3-403C-FAA2CD367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E3CCDEB-4534-E07F-3832-D5D5AB7248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64B8D2-1242-43E1-AD2C-8F66C23EE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23C1D1-65EC-1635-1EE9-7A446D806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7D66A28-92F1-9923-C779-473DF6D0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1440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9788F4-0E33-4298-7A91-EF7BDD710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BC234D-24D5-8041-F807-C8634C9B2D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BFD094F-DAB6-64FE-2160-AA0779A78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D8EDEF-7254-07E3-8AF0-605861887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2CC1BDF-61C4-2018-A3DE-8E88FD190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9451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086FC9-CDB9-D87C-422E-D4133DD9C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CE6C3AA-A95E-E3F1-FB35-1B34ECB91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566E051-71D9-B63E-8A8F-8D22D7E3A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4B595E-9B5C-6733-F893-9BD789631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80BF51-DAF9-0898-A388-A3D6B3D6D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9324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5CA9FB-7CD9-1C84-2D98-C0C24C6DD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DF13BF-461C-5ACE-DBD2-9C256B19F2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D0B2D1E-F1BF-7C77-6C8D-63560C5E7C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FA6324-97D9-A9EC-2A63-E118461BA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AEE4828-4419-413B-2B73-BC1FC7491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57942E5-C819-2B42-1E14-E1652264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7266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E52DFA-96C7-F4C6-C88D-850CE4B0F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8DCBE9-6325-B978-42A4-14BEBB9BB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A5E281A-34F9-1B5E-DE8A-095DEA92E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F17CF98-FC4C-5813-BD33-3476224998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E04A78A-1A84-DF39-A8F7-0B13F93F6B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4B31B15-19A1-CC1A-9A0A-72C10BB34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79A0A49-8A7C-EBBB-3260-C1BBA1C55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A682B01-008C-2D6C-2743-432333A80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5236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08FC1C-9D87-83F9-7333-F55B26338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492B722-185A-C011-B5C4-73A4854A6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83BEDEE-BF40-3BEC-A866-023426304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96C6E91-9990-BDD0-E542-9CFFA873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5011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5A298BB-01C6-D5DE-F7D3-120464FF8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8F29A0B-2E69-FE15-97D2-152995FEE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0229F51-0213-2861-5D77-6B7F25B68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2831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6B9A4A-B1A6-A50A-A8A4-FD41CFF75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AE3F0AE-F3E9-420D-5532-8161D8F23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42DBF80-8B93-BDF5-F852-560C9EA2F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C701BEF-5F2C-4348-1227-FC1EAB733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9160F44-A618-DA2D-9219-8883383C8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A07A5F-1FD5-270D-36E4-25B59B774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73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BB4D0B-F598-A9F0-6C21-B21C974F0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F2EEE50-5C9F-13ED-E394-7E3917496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513F01B-CC54-6D87-58E6-82E3864586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F2372D4-9EE5-C809-E0A0-452A1FBB9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F1BC91E-8482-D8F8-8967-BC469FD50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94E827F-B29E-BF07-EA64-AB2AE4E04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0570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B4AC44-E60E-9A5B-6439-C83F4828B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7598F78-349D-CF25-6B6F-A0283E9714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617CBA-DE47-4BB6-53FD-185BFEF20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3C6BEE-860A-F328-886E-EE619E384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44736D4-A5F6-7D7A-A829-54EB469A5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4270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F7A07CD-76F8-F0AC-F8EF-4050A6AE35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3D7E8E-1115-1A0E-D53E-8705FCC447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4110FD-6C6D-288C-578F-1080DC0E0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21B36C-5FD2-7DB5-7141-C253EDB49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91EEAC-75C0-BCE5-ECFA-96D1A0C97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9670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367FADF-62CD-14F8-BD55-EC017D2C4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FDB8166-038B-D0F2-8733-BD5CC9DD41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8AE0BFF-A713-8648-F290-644E156689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605AF-44F8-4C57-B945-CB0A72E9DB1D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E723FF-F169-4DF2-58E1-A1E584392A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343BAB3-8BF8-906F-FB6B-D03424A59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05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A48F40B-9B3E-6BDD-DA3E-627F2D5298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9353" y="1120676"/>
            <a:ext cx="4976733" cy="46166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Project </a:t>
            </a:r>
            <a:r>
              <a:rPr kumimoji="0" lang="fr-FR" altLang="fr-FR" sz="66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defense</a:t>
            </a: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66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regulation</a:t>
            </a:r>
            <a:endParaRPr kumimoji="0" lang="fr-FR" altLang="fr-FR" sz="66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swald" panose="020F0502020204030204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32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swald" panose="020F0502020204030204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3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09/2025-02/2026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3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Mathilde Roulleau</a:t>
            </a:r>
            <a:r>
              <a:rPr kumimoji="0" lang="fr-FR" altLang="fr-FR" sz="3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A93E98-DD0F-BF85-9C73-72EFEA96C9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0701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DBCB0-8604-724E-0662-33AADDDA7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09FA4AB-5E6C-5785-2AB8-DEEBF97B6C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5582" y="278290"/>
            <a:ext cx="4976733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The data</a:t>
            </a:r>
            <a:endParaRPr kumimoji="0" lang="fr-FR" altLang="fr-F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C1CDD00-DCDD-73C0-107E-E4AC4AF99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3C1E6CD-7227-E32E-4F39-2CD1E4D06EE9}"/>
              </a:ext>
            </a:extLst>
          </p:cNvPr>
          <p:cNvSpPr txBox="1"/>
          <p:nvPr/>
        </p:nvSpPr>
        <p:spPr>
          <a:xfrm>
            <a:off x="166974" y="1528117"/>
            <a:ext cx="5556351" cy="4726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41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projects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(PRJ…),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each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project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=</a:t>
            </a:r>
          </a:p>
          <a:p>
            <a:pPr marL="742950" lvl="1" indent="-285750">
              <a:lnSpc>
                <a:spcPct val="200000"/>
              </a:lnSpc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1" dirty="0" err="1">
                <a:solidFill>
                  <a:schemeClr val="bg2">
                    <a:lumMod val="25000"/>
                  </a:schemeClr>
                </a:solidFill>
                <a:effectLst/>
              </a:rPr>
              <a:t>Bacterial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effectLst/>
              </a:rPr>
              <a:t>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  <a:effectLst/>
              </a:rPr>
              <a:t>strain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effectLst/>
              </a:rPr>
              <a:t> </a:t>
            </a:r>
            <a:r>
              <a:rPr lang="fr-FR" b="0" dirty="0" err="1">
                <a:solidFill>
                  <a:schemeClr val="bg2">
                    <a:lumMod val="25000"/>
                  </a:schemeClr>
                </a:solidFill>
                <a:effectLst/>
              </a:rPr>
              <a:t>infected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 by a 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effectLst/>
              </a:rPr>
              <a:t>phage</a:t>
            </a:r>
          </a:p>
          <a:p>
            <a:pPr marL="742950" lvl="1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Illumina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RNAseq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on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different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samples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(SRR),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each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sample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= 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 </a:t>
            </a:r>
          </a:p>
          <a:p>
            <a:pPr marL="1200150" lvl="2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0" dirty="0" err="1">
                <a:solidFill>
                  <a:schemeClr val="bg2">
                    <a:lumMod val="25000"/>
                  </a:schemeClr>
                </a:solidFill>
                <a:effectLst/>
              </a:rPr>
              <a:t>Specific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 conditions (</a:t>
            </a:r>
            <a:r>
              <a:rPr lang="fr-FR" b="0" dirty="0" err="1">
                <a:solidFill>
                  <a:schemeClr val="bg2">
                    <a:lumMod val="25000"/>
                  </a:schemeClr>
                </a:solidFill>
                <a:effectLst/>
              </a:rPr>
              <a:t>infected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 / not </a:t>
            </a:r>
            <a:r>
              <a:rPr lang="fr-FR" b="0" dirty="0" err="1">
                <a:solidFill>
                  <a:schemeClr val="bg2">
                    <a:lumMod val="25000"/>
                  </a:schemeClr>
                </a:solidFill>
                <a:effectLst/>
              </a:rPr>
              <a:t>infected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, time </a:t>
            </a:r>
            <a:r>
              <a:rPr lang="fr-FR" b="0" dirty="0" err="1">
                <a:solidFill>
                  <a:schemeClr val="bg2">
                    <a:lumMod val="25000"/>
                  </a:schemeClr>
                </a:solidFill>
                <a:effectLst/>
              </a:rPr>
              <a:t>after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 infection, medium composition, </a:t>
            </a:r>
            <a:r>
              <a:rPr lang="fr-FR" b="0" dirty="0" err="1">
                <a:solidFill>
                  <a:schemeClr val="bg2">
                    <a:lumMod val="25000"/>
                  </a:schemeClr>
                </a:solidFill>
                <a:effectLst/>
              </a:rPr>
              <a:t>growth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 stage, light…)  </a:t>
            </a:r>
          </a:p>
          <a:p>
            <a:pPr marL="742950" lvl="1" indent="-285750">
              <a:lnSpc>
                <a:spcPct val="200000"/>
              </a:lnSpc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Transcriptomic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data</a:t>
            </a:r>
          </a:p>
          <a:p>
            <a:pPr marL="742950" lvl="1" indent="-285750">
              <a:lnSpc>
                <a:spcPct val="200000"/>
              </a:lnSpc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Generation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of a count matrix </a:t>
            </a:r>
          </a:p>
          <a:p>
            <a:pPr marL="742950" lvl="1" indent="-285750">
              <a:lnSpc>
                <a:spcPct val="200000"/>
              </a:lnSpc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Normalization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</a:t>
            </a:r>
          </a:p>
          <a:p>
            <a:pPr marL="742950" lvl="1" indent="-285750">
              <a:lnSpc>
                <a:spcPct val="200000"/>
              </a:lnSpc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Centered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Log2 Ratio (CLR)</a:t>
            </a:r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C2AD98F7-9F31-7CD9-F44B-80FAB0C986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652239"/>
              </p:ext>
            </p:extLst>
          </p:nvPr>
        </p:nvGraphicFramePr>
        <p:xfrm>
          <a:off x="5854076" y="2456724"/>
          <a:ext cx="617095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190">
                  <a:extLst>
                    <a:ext uri="{9D8B030D-6E8A-4147-A177-3AD203B41FA5}">
                      <a16:colId xmlns:a16="http://schemas.microsoft.com/office/drawing/2014/main" val="2499718628"/>
                    </a:ext>
                  </a:extLst>
                </a:gridCol>
                <a:gridCol w="1234190">
                  <a:extLst>
                    <a:ext uri="{9D8B030D-6E8A-4147-A177-3AD203B41FA5}">
                      <a16:colId xmlns:a16="http://schemas.microsoft.com/office/drawing/2014/main" val="2605615202"/>
                    </a:ext>
                  </a:extLst>
                </a:gridCol>
                <a:gridCol w="1234190">
                  <a:extLst>
                    <a:ext uri="{9D8B030D-6E8A-4147-A177-3AD203B41FA5}">
                      <a16:colId xmlns:a16="http://schemas.microsoft.com/office/drawing/2014/main" val="624793688"/>
                    </a:ext>
                  </a:extLst>
                </a:gridCol>
                <a:gridCol w="1234190">
                  <a:extLst>
                    <a:ext uri="{9D8B030D-6E8A-4147-A177-3AD203B41FA5}">
                      <a16:colId xmlns:a16="http://schemas.microsoft.com/office/drawing/2014/main" val="3449220282"/>
                    </a:ext>
                  </a:extLst>
                </a:gridCol>
                <a:gridCol w="1234190">
                  <a:extLst>
                    <a:ext uri="{9D8B030D-6E8A-4147-A177-3AD203B41FA5}">
                      <a16:colId xmlns:a16="http://schemas.microsoft.com/office/drawing/2014/main" val="42400363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Condtion1 rep 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Condition1 rep 2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Condition2 rep 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Condition2 rep2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195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1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69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76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326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2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321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238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405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359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3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76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581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4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78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99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766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545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731912"/>
                  </a:ext>
                </a:extLst>
              </a:tr>
            </a:tbl>
          </a:graphicData>
        </a:graphic>
      </p:graphicFrame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C602F555-7EF0-5718-DB1D-E8B092A23808}"/>
              </a:ext>
            </a:extLst>
          </p:cNvPr>
          <p:cNvCxnSpPr/>
          <p:nvPr/>
        </p:nvCxnSpPr>
        <p:spPr>
          <a:xfrm>
            <a:off x="9153996" y="1246028"/>
            <a:ext cx="1364103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5BCF3795-CC11-B6B6-2372-6207742CD238}"/>
              </a:ext>
            </a:extLst>
          </p:cNvPr>
          <p:cNvSpPr txBox="1"/>
          <p:nvPr/>
        </p:nvSpPr>
        <p:spPr>
          <a:xfrm>
            <a:off x="9282195" y="509122"/>
            <a:ext cx="1184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Illumina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RNAseq</a:t>
            </a:r>
            <a:endParaRPr lang="fr-FR" dirty="0"/>
          </a:p>
        </p:txBody>
      </p:sp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B158616D-E38F-3802-67DA-DC95E12F8E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5783" y="196138"/>
            <a:ext cx="1869223" cy="1918630"/>
          </a:xfrm>
          <a:prstGeom prst="rect">
            <a:avLst/>
          </a:prstGeom>
        </p:spPr>
      </p:pic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75DDB692-2B07-1585-2608-CB4B6A287BC0}"/>
              </a:ext>
            </a:extLst>
          </p:cNvPr>
          <p:cNvCxnSpPr>
            <a:cxnSpLocks/>
          </p:cNvCxnSpPr>
          <p:nvPr/>
        </p:nvCxnSpPr>
        <p:spPr>
          <a:xfrm>
            <a:off x="8939551" y="4580164"/>
            <a:ext cx="0" cy="53148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7AA7B2FD-D0EE-6B90-361D-E33E4E1DDA52}"/>
              </a:ext>
            </a:extLst>
          </p:cNvPr>
          <p:cNvSpPr txBox="1"/>
          <p:nvPr/>
        </p:nvSpPr>
        <p:spPr>
          <a:xfrm>
            <a:off x="7240394" y="5111646"/>
            <a:ext cx="3419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Normalization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by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gene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length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and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sequencing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depth</a:t>
            </a:r>
            <a:endParaRPr lang="fr-FR" dirty="0"/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60D4E8A7-C6AF-9BCC-C174-9D5171AE77EB}"/>
              </a:ext>
            </a:extLst>
          </p:cNvPr>
          <p:cNvCxnSpPr>
            <a:cxnSpLocks/>
          </p:cNvCxnSpPr>
          <p:nvPr/>
        </p:nvCxnSpPr>
        <p:spPr>
          <a:xfrm>
            <a:off x="8939551" y="5680187"/>
            <a:ext cx="0" cy="53148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35BDED98-BC4A-2278-14CE-77419DE36844}"/>
              </a:ext>
            </a:extLst>
          </p:cNvPr>
          <p:cNvSpPr txBox="1"/>
          <p:nvPr/>
        </p:nvSpPr>
        <p:spPr>
          <a:xfrm>
            <a:off x="7240394" y="6211669"/>
            <a:ext cx="3419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CLR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059162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112</Words>
  <Application>Microsoft Office PowerPoint</Application>
  <PresentationFormat>Grand écran</PresentationFormat>
  <Paragraphs>40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Oswald</vt:lpstr>
      <vt:lpstr>Wingdings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Mathilde Annette Nicole Roulleau</dc:creator>
  <cp:lastModifiedBy>Mathilde Annette Nicole Roulleau</cp:lastModifiedBy>
  <cp:revision>1</cp:revision>
  <dcterms:created xsi:type="dcterms:W3CDTF">2026-01-22T14:46:49Z</dcterms:created>
  <dcterms:modified xsi:type="dcterms:W3CDTF">2026-01-22T16:28:39Z</dcterms:modified>
</cp:coreProperties>
</file>